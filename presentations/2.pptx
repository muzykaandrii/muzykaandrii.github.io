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7" r:id="rId1"/>
    <p:sldMasterId id="2147483692" r:id="rId2"/>
  </p:sldMasterIdLst>
  <p:notesMasterIdLst>
    <p:notesMasterId r:id="rId9"/>
  </p:notesMasterIdLst>
  <p:sldIdLst>
    <p:sldId id="335" r:id="rId3"/>
    <p:sldId id="336" r:id="rId4"/>
    <p:sldId id="341" r:id="rId5"/>
    <p:sldId id="338" r:id="rId6"/>
    <p:sldId id="339" r:id="rId7"/>
    <p:sldId id="340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323B"/>
    <a:srgbClr val="00B09B"/>
    <a:srgbClr val="F0EEEF"/>
    <a:srgbClr val="0D95BC"/>
    <a:srgbClr val="DF361F"/>
    <a:srgbClr val="6C2B43"/>
    <a:srgbClr val="7B0051"/>
    <a:srgbClr val="063951"/>
    <a:srgbClr val="EB1E42"/>
    <a:srgbClr val="B2C4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57" autoAdjust="0"/>
    <p:restoredTop sz="96357" autoAdjust="0"/>
  </p:normalViewPr>
  <p:slideViewPr>
    <p:cSldViewPr snapToGrid="0" showGuides="1">
      <p:cViewPr varScale="1">
        <p:scale>
          <a:sx n="70" d="100"/>
          <a:sy n="70" d="100"/>
        </p:scale>
        <p:origin x="129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9/11/2021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4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template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816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esentationgo.com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803691-0A24-41EF-BFAA-E15A7F0700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004848"/>
            <a:ext cx="6858000" cy="2031325"/>
          </a:xfrm>
          <a:ln w="101600">
            <a:solidFill>
              <a:schemeClr val="bg1"/>
            </a:solidFill>
          </a:ln>
        </p:spPr>
        <p:txBody>
          <a:bodyPr tIns="182880" bIns="182880" anchor="b">
            <a:spAutoFit/>
          </a:bodyPr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CE58A61-97D0-466F-9C6F-50699E954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235570"/>
            <a:ext cx="6858000" cy="134140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A300098-3AD8-4D0C-A235-5B513E924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Your Date Here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F62D588-FFD6-4091-97AA-D11096B1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0124620-CEC3-4743-A571-9730DED17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62DA-3030-4B07-AAB8-DF1E592437E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722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C31CC6-70C4-4AD5-8097-3A912B4AA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5EB9D9C-DF0C-4673-8B9A-2E4DDF67F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86A7745-14C0-4C5E-B665-4AB783434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Your Date Here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13DA606-B51E-4311-A561-6368113F5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0839892-89ED-42C0-ADAE-A85A96920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62DA-3030-4B07-AAB8-DF1E592437E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669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2CBF12-30CA-4623-A4AE-7404985BA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7BC1F92-41EE-4B77-82CE-BD20C1586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F616857-BC3D-4E53-8F46-91F685CDE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Your Date Here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D50F0C6-0015-4783-9BE8-5E406FE10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97C39F2-C579-4A2A-919F-824BEF69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62DA-3030-4B07-AAB8-DF1E592437E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878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48E28EF-855E-4915-AFB8-B1555BC44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ACE8975-2D8B-47AC-AF99-9E92D9C6C5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D1D7785-47CF-4A09-B426-CA233D6F3E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7B88BA3-F192-4B97-AE56-A3A61DC15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Your Date Here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D8B25A8-45B0-41E4-A9EC-72F220CCB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58602D2-EB4F-470D-AEA7-B8970C8FF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62DA-3030-4B07-AAB8-DF1E592437E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174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051B51-C1A6-40D1-AEFA-B25385E10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E26741A-0F52-43B0-A327-48C99D1D6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6AE10E6-DF0C-46E8-8134-B4F6A42783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128DAC4-375D-4199-9CF3-692C12B171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2C764C4F-EB9B-4555-8B56-20A210B27D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48C1F419-71AE-4D6C-BAB4-2E58AEF0F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Your Date Here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2D555AC-6735-4EB9-8EAE-A6D6F3652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679FDE9D-1BDC-4041-92F8-9ECEFD718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62DA-3030-4B07-AAB8-DF1E592437E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827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9F40F3-C666-44B6-974C-57BBA6D36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230938E-21DA-4923-AA39-AB85D8BAA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Your Date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EEA3CCA-A7DC-4154-A891-01E3E9EA4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EC6BFD7-6E5E-4EF6-B11D-4AF7B38F7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62DA-3030-4B07-AAB8-DF1E592437E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9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8D6B997-7797-4FEC-BD29-819E64ED7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Your Date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75FD1476-3A90-486B-9BA7-03F965260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DE10339-53E6-4FFD-AD8C-85769922C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62DA-3030-4B07-AAB8-DF1E592437E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142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54AE19-A794-441F-ADDB-0919CD91B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989DB88-F5A4-45C6-85A5-2667DD1EB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5F16694-75EF-46EA-8354-1EBF07213A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F97D8C2-4EB0-449C-A2FC-A7890EE2D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Your Date Here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42BD23A-E6D3-4ACF-BA96-AD1C4F583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8FE64E6-BBD9-46EE-BEB5-3DF0A5AA0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62DA-3030-4B07-AAB8-DF1E592437E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94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D981A4-31E7-40FE-BB9A-51463F663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11CD570-7C39-441A-A722-2C047FA5B2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0FC1F7E-7B21-4A5C-AC64-AE20AAD6A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161C4F2-1A49-4CDE-A412-339B02BC7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Your Date Here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ADAA6B2-FD2B-4D1A-A9ED-882725EA3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AA1881D-D813-4109-A238-96FAC079E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62DA-3030-4B07-AAB8-DF1E592437E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78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59EB72F-1B37-41D0-B230-EBA11ED7A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E0E1134-6835-48B8-BCD0-F21F6A414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197B69B-0ED2-4109-927F-50037D65C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Your Date Here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BF15A83-5D9A-4482-A0D3-6776954DB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B5E925C-AE15-4956-BE03-286F6E9C8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62DA-3030-4B07-AAB8-DF1E592437E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270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B44A6FB9-FA78-4F0D-8166-D2D57ED3E7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B6B6481-46CD-4DD2-9AF2-1F1A8A5C6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317104A-76B3-4B1C-9C00-4E2E53E2C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Your Date Here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3DA5228-AE68-48FC-886C-02000DC5F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CB3F9A6-FEB3-4DC7-97C6-93BF3D9E8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62DA-3030-4B07-AAB8-DF1E592437E5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0079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gradFill>
          <a:gsLst>
            <a:gs pos="0">
              <a:srgbClr val="323A45"/>
            </a:gs>
            <a:gs pos="35000">
              <a:srgbClr val="323A45"/>
            </a:gs>
            <a:gs pos="100000">
              <a:srgbClr val="1C2026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3152955"/>
            <a:ext cx="9144000" cy="552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A5CD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PresentationGO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>
            <a:hlinkClick r:id="rId2"/>
          </p:cNvPr>
          <p:cNvSpPr/>
          <p:nvPr userDrawn="1"/>
        </p:nvSpPr>
        <p:spPr>
          <a:xfrm>
            <a:off x="2048933" y="3071723"/>
            <a:ext cx="5046133" cy="714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 userDrawn="1"/>
        </p:nvSpPr>
        <p:spPr>
          <a:xfrm>
            <a:off x="2747213" y="6121399"/>
            <a:ext cx="364959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>
                <a:solidFill>
                  <a:srgbClr val="A5CD00"/>
                </a:solidFill>
              </a:rPr>
              <a:t>T</a:t>
            </a:r>
            <a:r>
              <a:rPr lang="en-US" baseline="0" dirty="0">
                <a:solidFill>
                  <a:srgbClr val="A5CD00"/>
                </a:solidFill>
              </a:rPr>
              <a:t>he </a:t>
            </a:r>
            <a:r>
              <a:rPr lang="en-US" baseline="0">
                <a:solidFill>
                  <a:srgbClr val="A5CD00"/>
                </a:solidFill>
              </a:rPr>
              <a:t>free PowerPoint template </a:t>
            </a:r>
            <a:r>
              <a:rPr lang="en-US" baseline="0" dirty="0">
                <a:solidFill>
                  <a:srgbClr val="A5CD00"/>
                </a:solidFill>
              </a:rPr>
              <a:t>library</a:t>
            </a:r>
            <a:endParaRPr lang="en-US" dirty="0">
              <a:solidFill>
                <a:srgbClr val="A5CD00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3459936" y="2633133"/>
            <a:ext cx="2224135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ffectLst/>
              </a:rPr>
              <a:t>Designed</a:t>
            </a:r>
            <a:r>
              <a:rPr lang="en-US" baseline="0">
                <a:solidFill>
                  <a:schemeClr val="bg1"/>
                </a:solidFill>
                <a:effectLst/>
              </a:rPr>
              <a:t> with         by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9" name="Freeform 290"/>
          <p:cNvSpPr/>
          <p:nvPr userDrawn="1"/>
        </p:nvSpPr>
        <p:spPr>
          <a:xfrm>
            <a:off x="4977441" y="2705803"/>
            <a:ext cx="261456" cy="223991"/>
          </a:xfrm>
          <a:custGeom>
            <a:avLst/>
            <a:gdLst/>
            <a:ahLst/>
            <a:cxnLst/>
            <a:rect l="l" t="t" r="r" b="b"/>
            <a:pathLst>
              <a:path w="504825" h="432707">
                <a:moveTo>
                  <a:pt x="134658" y="0"/>
                </a:moveTo>
                <a:cubicBezTo>
                  <a:pt x="146301" y="0"/>
                  <a:pt x="158180" y="2019"/>
                  <a:pt x="170294" y="6057"/>
                </a:cubicBezTo>
                <a:cubicBezTo>
                  <a:pt x="182407" y="10095"/>
                  <a:pt x="193676" y="15541"/>
                  <a:pt x="204099" y="22396"/>
                </a:cubicBezTo>
                <a:cubicBezTo>
                  <a:pt x="214522" y="29251"/>
                  <a:pt x="223490" y="35683"/>
                  <a:pt x="231002" y="41693"/>
                </a:cubicBezTo>
                <a:cubicBezTo>
                  <a:pt x="238514" y="47703"/>
                  <a:pt x="245652" y="54088"/>
                  <a:pt x="252412" y="60849"/>
                </a:cubicBezTo>
                <a:cubicBezTo>
                  <a:pt x="259174" y="54088"/>
                  <a:pt x="266310" y="47703"/>
                  <a:pt x="273823" y="41693"/>
                </a:cubicBezTo>
                <a:cubicBezTo>
                  <a:pt x="281334" y="35683"/>
                  <a:pt x="290303" y="29251"/>
                  <a:pt x="300726" y="22396"/>
                </a:cubicBezTo>
                <a:cubicBezTo>
                  <a:pt x="311149" y="15541"/>
                  <a:pt x="322417" y="10095"/>
                  <a:pt x="334531" y="6057"/>
                </a:cubicBezTo>
                <a:cubicBezTo>
                  <a:pt x="346645" y="2019"/>
                  <a:pt x="358524" y="0"/>
                  <a:pt x="370167" y="0"/>
                </a:cubicBezTo>
                <a:cubicBezTo>
                  <a:pt x="412236" y="0"/>
                  <a:pt x="445197" y="11644"/>
                  <a:pt x="469048" y="34932"/>
                </a:cubicBezTo>
                <a:cubicBezTo>
                  <a:pt x="492899" y="58220"/>
                  <a:pt x="504825" y="90523"/>
                  <a:pt x="504825" y="131840"/>
                </a:cubicBezTo>
                <a:cubicBezTo>
                  <a:pt x="504825" y="173346"/>
                  <a:pt x="483321" y="215602"/>
                  <a:pt x="440313" y="258610"/>
                </a:cubicBezTo>
                <a:lnTo>
                  <a:pt x="264807" y="427636"/>
                </a:lnTo>
                <a:cubicBezTo>
                  <a:pt x="261427" y="431017"/>
                  <a:pt x="257295" y="432707"/>
                  <a:pt x="252412" y="432707"/>
                </a:cubicBezTo>
                <a:cubicBezTo>
                  <a:pt x="247529" y="432707"/>
                  <a:pt x="243398" y="431017"/>
                  <a:pt x="240018" y="427636"/>
                </a:cubicBezTo>
                <a:lnTo>
                  <a:pt x="64230" y="258047"/>
                </a:lnTo>
                <a:cubicBezTo>
                  <a:pt x="62351" y="256544"/>
                  <a:pt x="59770" y="254103"/>
                  <a:pt x="56482" y="250722"/>
                </a:cubicBezTo>
                <a:cubicBezTo>
                  <a:pt x="53196" y="247342"/>
                  <a:pt x="47984" y="241191"/>
                  <a:pt x="40848" y="232270"/>
                </a:cubicBezTo>
                <a:cubicBezTo>
                  <a:pt x="33712" y="223349"/>
                  <a:pt x="27326" y="214194"/>
                  <a:pt x="21692" y="204803"/>
                </a:cubicBezTo>
                <a:cubicBezTo>
                  <a:pt x="16057" y="195413"/>
                  <a:pt x="11035" y="184051"/>
                  <a:pt x="6620" y="170717"/>
                </a:cubicBezTo>
                <a:cubicBezTo>
                  <a:pt x="2207" y="157382"/>
                  <a:pt x="0" y="144423"/>
                  <a:pt x="0" y="131840"/>
                </a:cubicBezTo>
                <a:cubicBezTo>
                  <a:pt x="0" y="90523"/>
                  <a:pt x="11926" y="58220"/>
                  <a:pt x="35777" y="34932"/>
                </a:cubicBezTo>
                <a:cubicBezTo>
                  <a:pt x="59629" y="11644"/>
                  <a:pt x="92588" y="0"/>
                  <a:pt x="134658" y="0"/>
                </a:cubicBezTo>
                <a:close/>
              </a:path>
            </a:pathLst>
          </a:custGeom>
          <a:solidFill>
            <a:srgbClr val="D900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2041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F2E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CDCEE8C6-817B-4ADB-B43A-11C03D234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D870B61-028E-46F4-99F0-C47E5C41D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3CD9CE5-6E5C-4520-91D9-BC25EA2C2E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0F8C28B-87B7-455A-B4A2-335CB7C539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314A9FE-B96A-4D96-BF9B-EDF49BA2A3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662DA-3030-4B07-AAB8-DF1E592437E5}" type="slidenum">
              <a:rPr lang="en-US" smtClean="0"/>
              <a:t>‹№›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B02865CC-77B7-4900-98B0-5F4DB695A834}"/>
              </a:ext>
            </a:extLst>
          </p:cNvPr>
          <p:cNvGrpSpPr/>
          <p:nvPr userDrawn="1"/>
        </p:nvGrpSpPr>
        <p:grpSpPr>
          <a:xfrm>
            <a:off x="-1654908" y="-73804"/>
            <a:ext cx="1569183" cy="612144"/>
            <a:chOff x="-2096383" y="21447"/>
            <a:chExt cx="1569183" cy="61214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A78E2FD5-C4BF-4E43-9356-A698E5DD3D00}"/>
                </a:ext>
              </a:extLst>
            </p:cNvPr>
            <p:cNvSpPr txBox="1"/>
            <p:nvPr userDrawn="1"/>
          </p:nvSpPr>
          <p:spPr>
            <a:xfrm>
              <a:off x="-2096383" y="21447"/>
              <a:ext cx="3658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By: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2F0CF29A-CE34-4950-A020-726951E824AE}"/>
                </a:ext>
              </a:extLst>
            </p:cNvPr>
            <p:cNvSpPr txBox="1"/>
            <p:nvPr userDrawn="1"/>
          </p:nvSpPr>
          <p:spPr>
            <a:xfrm>
              <a:off x="-1002010" y="387370"/>
              <a:ext cx="4748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.com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BEAA1284-9DF8-4F9F-80F2-E2A94CAD06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/>
            <a:stretch>
              <a:fillRect/>
            </a:stretch>
          </p:blipFill>
          <p:spPr>
            <a:xfrm>
              <a:off x="-2018604" y="234547"/>
              <a:ext cx="1405251" cy="185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2337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23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EDDA2-A385-4D53-9944-861446547DDE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65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5CFD0D48-696B-4896-8F6F-B19AA59A6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3582" y="2483892"/>
            <a:ext cx="7478974" cy="1992573"/>
          </a:xfrm>
        </p:spPr>
        <p:txBody>
          <a:bodyPr>
            <a:normAutofit/>
          </a:bodyPr>
          <a:lstStyle/>
          <a:p>
            <a:r>
              <a:rPr lang="uk-UA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Здоров’язбережувальні технології на уроках з використанням ІКТ в початкові школі</a:t>
            </a:r>
            <a:endParaRPr lang="uk-UA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416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163773" y="529089"/>
            <a:ext cx="8693624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uk-U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Поняття </a:t>
            </a:r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«здоров’язбережувальні технології» об’єднує в собі всі напрями діяльності загальноосвітнього закладу з формування, збереження та зміцнення здоров’я учнів. Згідно з концепцією НУШ, найціннішим результатом початкової освіти в особистісному вимірі є здорова дитина, мотивована на успішне навчання, тому варто на уроках і в позаурочний час застосовувати здоров’збережувальний технології.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649" y="3302758"/>
            <a:ext cx="3643952" cy="26788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2014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191068" y="842986"/>
            <a:ext cx="870727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uk-U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Використовувати </a:t>
            </a:r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комп’ютерні технології на всіх етапах уроку є неприпустимим з точки зору здоров’я і безпеки учнів. Зловживання може призвести до фізіологічного, інформаційного та навчального перенавантаження. Учитель, який використовує ІКТ на уроках, повинен пам’ятати про санітарно — гігієнічні умови використання ІКТ.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827" y="3002509"/>
            <a:ext cx="4411894" cy="299518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42295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341194" y="556383"/>
            <a:ext cx="8639033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uk-UA" dirty="0" smtClean="0"/>
              <a:t>	Є 3 шляхи запобігання розвитку комп’ютерного зорового синдрому: 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uk-UA" dirty="0" smtClean="0"/>
              <a:t>Гігієна праці в умовах роботи перед монітором;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uk-UA" dirty="0" smtClean="0"/>
              <a:t>Наближення зображення на моніторі до природного;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uk-UA" dirty="0" smtClean="0"/>
              <a:t>Жорсткий і постійний контроль дорослих за часом, який проводять діти за комп’ютером.</a:t>
            </a:r>
          </a:p>
          <a:p>
            <a:endParaRPr lang="uk-UA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742" y="3145240"/>
            <a:ext cx="4330890" cy="3180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329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314752" y="829339"/>
            <a:ext cx="863818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uk-UA" dirty="0" smtClean="0"/>
              <a:t>	Завдання педагога, який проводить заняття з використанням ІКТ, — зняти або звести до мінімуму їхній негативний вплив на здоров’я учнів.</a:t>
            </a:r>
            <a:endParaRPr lang="uk-UA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/>
          <a:srcRect l="3198"/>
          <a:stretch/>
        </p:blipFill>
        <p:spPr>
          <a:xfrm>
            <a:off x="2552131" y="2866733"/>
            <a:ext cx="5663821" cy="307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44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177421" y="269780"/>
            <a:ext cx="8734567" cy="435133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uk-UA" sz="2400" dirty="0"/>
              <a:t>Є кілька правил у роботі за комп’ютером, які допоможуть отримати від заняття максимум задоволення.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uk-UA" dirty="0"/>
              <a:t>1-е правило: перед роботою за комп’ютером обов’язково потрібно зробити гімнастику.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uk-UA" dirty="0"/>
              <a:t>2-е правило: у комп’ютера є 1 важлива деталь — клавіатуру. Щоб працювати на комп’ютері із задоволенням — пальці повинні бути легкими та розслабленими. Дуже важливо не пере навантажувати суглоби кистей рук.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uk-UA" dirty="0"/>
              <a:t>3-є правило піклуюся про зір, працюючи за комп’ютером! Гімнастика для очей забезпечує поліпшення кровопостачання тканин ОК, підвищує силу, еластичність і тонус очних м’язів і нервів, знімає перевтому зорового апарату.</a:t>
            </a:r>
          </a:p>
          <a:p>
            <a:endParaRPr lang="uk-UA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818" y="4084377"/>
            <a:ext cx="3230254" cy="26098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37811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114_T_PGO_Flat-Lay-4_3" id="{FF359503-8798-456B-AFBA-82F0601C8370}" vid="{729A520B-E444-4AC0-B732-F5CA7CAA1A0D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114_T_PGO_Flat-Lay-4_3" id="{FF359503-8798-456B-AFBA-82F0601C8370}" vid="{863C48AC-C4FA-4BEC-B2FF-9E20E01DFB1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0114_T_PGO_Flat-Lay-iMac-Keyboard-4_3</Template>
  <TotalTime>51</TotalTime>
  <Words>118</Words>
  <Application>Microsoft Office PowerPoint</Application>
  <PresentationFormat>Екран (4:3)</PresentationFormat>
  <Paragraphs>14</Paragraphs>
  <Slides>6</Slides>
  <Notes>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слайдів</vt:lpstr>
      </vt:variant>
      <vt:variant>
        <vt:i4>6</vt:i4>
      </vt:variant>
    </vt:vector>
  </HeadingPairs>
  <TitlesOfParts>
    <vt:vector size="14" baseType="lpstr">
      <vt:lpstr>Arial</vt:lpstr>
      <vt:lpstr>Calibri</vt:lpstr>
      <vt:lpstr>Calibri Light</vt:lpstr>
      <vt:lpstr>Open Sans</vt:lpstr>
      <vt:lpstr>Times New Roman</vt:lpstr>
      <vt:lpstr>Wingdings</vt:lpstr>
      <vt:lpstr>1_Custom Design</vt:lpstr>
      <vt:lpstr>Custom Design</vt:lpstr>
      <vt:lpstr>Здоров’язбережувальні технології на уроках з використанням ІКТ в початкові школі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your presentation</dc:title>
  <dc:creator>User</dc:creator>
  <dc:description>© Copyright PresentationGo.com</dc:description>
  <cp:lastModifiedBy>admins</cp:lastModifiedBy>
  <cp:revision>5</cp:revision>
  <dcterms:created xsi:type="dcterms:W3CDTF">2019-02-21T15:00:17Z</dcterms:created>
  <dcterms:modified xsi:type="dcterms:W3CDTF">2021-09-11T17:56:29Z</dcterms:modified>
  <cp:category>Templates</cp:category>
</cp:coreProperties>
</file>